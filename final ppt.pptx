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71" r:id="rId11"/>
    <p:sldId id="264" r:id="rId12"/>
    <p:sldId id="274" r:id="rId13"/>
    <p:sldId id="273" r:id="rId14"/>
    <p:sldId id="272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4" name="Google Shape;94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/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4" name="Google Shape;104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6" name="Google Shape;116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8aef4f157_0_0:notes"/>
          <p:cNvSpPr/>
          <p:nvPr>
            <p:ph type="sldImg" idx="2"/>
          </p:nvPr>
        </p:nvSpPr>
        <p:spPr>
          <a:xfrm>
            <a:off x="407988" y="696913"/>
            <a:ext cx="61959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d8aef4f157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8" name="Google Shape;128;g3d8aef4f157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40" name="Google Shape;140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8aef4f157_0_13:notes"/>
          <p:cNvSpPr/>
          <p:nvPr>
            <p:ph type="sldImg" idx="2"/>
          </p:nvPr>
        </p:nvSpPr>
        <p:spPr>
          <a:xfrm>
            <a:off x="407988" y="696913"/>
            <a:ext cx="61959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3d8aef4f157_0_1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52" name="Google Shape;152;g3d8aef4f157_0_1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type="body" idx="1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163" name="Google Shape;163;p5:notes"/>
          <p:cNvSpPr/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type="body" idx="1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163" name="Google Shape;163;p5:notes"/>
          <p:cNvSpPr/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type="body" idx="1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185" name="Google Shape;185;p6:notes"/>
          <p:cNvSpPr/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type="body" idx="1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185" name="Google Shape;185;p6:notes"/>
          <p:cNvSpPr/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type="body" idx="1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185" name="Google Shape;185;p6:notes"/>
          <p:cNvSpPr/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type="body" idx="1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185" name="Google Shape;185;p6:notes"/>
          <p:cNvSpPr/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8aef4f157_0_39:notes"/>
          <p:cNvSpPr txBox="1"/>
          <p:nvPr>
            <p:ph type="body" idx="1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196" name="Google Shape;196;g3d8aef4f157_0_39:notes"/>
          <p:cNvSpPr/>
          <p:nvPr>
            <p:ph type="sldImg" idx="2"/>
          </p:nvPr>
        </p:nvSpPr>
        <p:spPr>
          <a:xfrm>
            <a:off x="407988" y="696913"/>
            <a:ext cx="61959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type="body" idx="1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207" name="Google Shape;207;p7:notes"/>
          <p:cNvSpPr/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/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8:notes"/>
          <p:cNvSpPr txBox="1"/>
          <p:nvPr>
            <p:ph type="body" idx="1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219" name="Google Shape;219;p8:notes"/>
          <p:cNvSpPr txBox="1"/>
          <p:nvPr>
            <p:ph type="sldNum" idx="12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/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31" name="Google Shape;231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8aef4f157_0_52:notes"/>
          <p:cNvSpPr/>
          <p:nvPr>
            <p:ph type="sldImg" idx="2"/>
          </p:nvPr>
        </p:nvSpPr>
        <p:spPr>
          <a:xfrm>
            <a:off x="407988" y="696913"/>
            <a:ext cx="61959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3d8aef4f157_0_52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43" name="Google Shape;243;g3d8aef4f157_0_52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55" name="Google Shape;255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 matchingNam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Google Shape;21;p2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matchingName="Section Header">
  <p:cSld name="SECTION_HEADER">
    <p:bg>
      <p:bgPr>
        <a:solidFill>
          <a:schemeClr val="lt1"/>
        </a:solidFill>
        <a:effectLst/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 panose="020F0502020204030204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cxnSp>
        <p:nvCxnSpPr>
          <p:cNvPr id="38" name="Google Shape;38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6"/>
          <p:cNvSpPr txBox="1"/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51" name="Google Shape;51;p6"/>
          <p:cNvSpPr txBox="1"/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showMasterSp="0" matchingName="Content with Caption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3" name="Google Shape;63;p8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 panose="020F0502020204030204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8"/>
          <p:cNvSpPr txBox="1"/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 matchingName="Picture with Caption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2" name="Google Shape;72;p9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 panose="020F0502020204030204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/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9"/>
          <p:cNvSpPr txBox="1"/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9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 matchingName="Vertical Title and Text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Google Shape;87;p11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 panose="020F0502020204030204"/>
              <a:buNone/>
              <a:defRPr sz="48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 panose="020F0502020204030204"/>
              <a:buChar char=" "/>
              <a:defRPr sz="20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 panose="020F0502020204030204"/>
              <a:buChar char="◦"/>
              <a:defRPr sz="18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cxnSp>
        <p:nvCxnSpPr>
          <p:cNvPr id="17" name="Google Shape;17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/>
          <p:nvPr/>
        </p:nvSpPr>
        <p:spPr>
          <a:xfrm>
            <a:off x="2388000" y="990600"/>
            <a:ext cx="79248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 panose="020B0603020202020204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UE23CS320B</a:t>
            </a:r>
            <a:r>
              <a:rPr lang="en-US" sz="2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– Capstone Project Phase – 2</a:t>
            </a:r>
            <a:endParaRPr sz="2800" b="0" i="0" u="none" strike="noStrike" cap="none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 panose="020B0603020202020204"/>
              <a:buNone/>
            </a:pPr>
            <a:endParaRPr sz="2800" b="0" i="0" u="none" strike="noStrike" cap="none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 panose="020B0603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SEMESTER - VI </a:t>
            </a:r>
            <a:endParaRPr sz="2800" b="0" i="0" u="none" strike="noStrike" cap="none">
              <a:solidFill>
                <a:srgbClr val="FF0000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END SEMESTER ASSESSMENT</a:t>
            </a:r>
            <a:r>
              <a:rPr lang="en-US" sz="2800" b="0" i="0" u="none" strike="noStrike" cap="none">
                <a:solidFill>
                  <a:schemeClr val="accent2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2800" b="0" i="0" u="none" strike="noStrike" cap="none">
              <a:solidFill>
                <a:schemeClr val="accent2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 panose="020B0603020202020204"/>
              <a:buNone/>
            </a:pPr>
            <a:endParaRPr sz="2800" b="0" i="0" u="none" strike="noStrike" cap="none">
              <a:solidFill>
                <a:schemeClr val="accent2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1868475" y="2957588"/>
            <a:ext cx="8458200" cy="13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2400" b="0" i="0" u="none" strike="noStrike" cap="none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Title   : </a:t>
            </a:r>
            <a:r>
              <a:rPr lang="en-US" sz="20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2000" i="0" u="none" strike="noStrike" cap="none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2000" i="0" u="none" strike="noStrike" cap="none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2400" b="0" i="0" u="none" strike="noStrike" cap="none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ID       : </a:t>
            </a:r>
            <a:r>
              <a:rPr lang="en-US" sz="2000">
                <a:solidFill>
                  <a:srgbClr val="00000A"/>
                </a:solidFill>
              </a:rPr>
              <a:t>PW26_RR_06</a:t>
            </a:r>
            <a:r>
              <a:rPr lang="en-US" sz="2000" i="0" u="none" strike="noStrike" cap="none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r>
              <a:rPr lang="en-US" sz="2400" b="0" i="0" u="none" strike="noStrike" cap="none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   </a:t>
            </a:r>
            <a:endParaRPr sz="2400" b="0" i="0" u="none" strike="noStrike" cap="none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2400" b="0" i="0" u="none" strike="noStrike" cap="none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Guide : </a:t>
            </a:r>
            <a:r>
              <a:rPr lang="en-US" sz="2000" i="0" u="none" strike="noStrike" cap="none">
                <a:solidFill>
                  <a:schemeClr val="dk1"/>
                </a:solidFill>
              </a:rPr>
              <a:t>D</a:t>
            </a:r>
            <a:r>
              <a:rPr lang="en-US" sz="2000">
                <a:solidFill>
                  <a:schemeClr val="dk1"/>
                </a:solidFill>
              </a:rPr>
              <a:t>r. Roopa Ravish</a:t>
            </a:r>
            <a:r>
              <a:rPr lang="en-US" sz="2000" b="0" i="0" u="none" strike="noStrike" cap="none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r>
              <a:rPr lang="en-US" sz="2400" b="0" i="0" u="none" strike="noStrike" cap="none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               </a:t>
            </a:r>
            <a:endParaRPr sz="2400" b="0" i="0" u="none" strike="noStrike" cap="none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2400" b="0" i="0" u="none" strike="noStrike" cap="none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Team  :  </a:t>
            </a:r>
            <a:r>
              <a:rPr lang="en-US" sz="1900" i="0" u="none" strike="noStrike" cap="none">
                <a:solidFill>
                  <a:schemeClr val="dk1"/>
                </a:solidFill>
              </a:rPr>
              <a:t>Mallikarjun </a:t>
            </a:r>
            <a:r>
              <a:rPr lang="en-US" sz="1900">
                <a:solidFill>
                  <a:schemeClr val="dk1"/>
                </a:solidFill>
              </a:rPr>
              <a:t>Reddy </a:t>
            </a:r>
            <a:endParaRPr lang="en-US" sz="1900">
              <a:solidFill>
                <a:schemeClr val="dk1"/>
              </a:solidFill>
            </a:endParaRPr>
          </a:p>
          <a:p>
            <a:pPr marL="1828800" marR="0" lvl="4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900">
                <a:solidFill>
                  <a:schemeClr val="dk1"/>
                </a:solidFill>
              </a:rPr>
              <a:t>Navajyoth</a:t>
            </a:r>
            <a:endParaRPr lang="en-US" sz="1900">
              <a:solidFill>
                <a:schemeClr val="dk1"/>
              </a:solidFill>
            </a:endParaRPr>
          </a:p>
          <a:p>
            <a:pPr marL="1828800" marR="0" lvl="4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900">
                <a:solidFill>
                  <a:schemeClr val="dk1"/>
                </a:solidFill>
              </a:rPr>
              <a:t>Pranav G M</a:t>
            </a:r>
            <a:endParaRPr sz="19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900">
                <a:solidFill>
                  <a:schemeClr val="dk1"/>
                </a:solidFill>
              </a:rPr>
              <a:t>		       N Viharika</a:t>
            </a:r>
            <a:endParaRPr sz="19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98" name="Google Shape;98;p12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/>
              <a:t>Mallikarjun_Navajyoth_Pranav_Viharika</a:t>
            </a:r>
            <a:endParaRPr lang="en-US"/>
          </a:p>
        </p:txBody>
      </p:sp>
      <p:sp>
        <p:nvSpPr>
          <p:cNvPr id="99" name="Google Shape;99;p12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00" name="Google Shape;100;p1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312800" y="87200"/>
            <a:ext cx="1615413" cy="74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 rot="10800000" flipH="1">
            <a:off x="2397760" y="1682981"/>
            <a:ext cx="827024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1906783" y="2032045"/>
            <a:ext cx="9305700" cy="360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marR="0" lvl="0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lang="en-US" sz="21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Abstract and scope.</a:t>
            </a:r>
            <a:endParaRPr sz="1500" b="0" i="0" u="none" strike="noStrike" cap="none">
              <a:solidFill>
                <a:schemeClr val="accen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685800" marR="0" lvl="0" indent="-3238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lang="en-US" sz="21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Suggestions from phase-2 review 2</a:t>
            </a:r>
            <a:endParaRPr sz="2100" b="0" i="0" u="none" strike="noStrike" cap="none">
              <a:solidFill>
                <a:schemeClr val="accent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685800" marR="0" lvl="0" indent="-3238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Trebuchet MS" panose="020B0603020202020204"/>
              <a:buChar char="▪"/>
            </a:pPr>
            <a:r>
              <a:rPr lang="en-US" sz="21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Implementation details (Technical)</a:t>
            </a:r>
            <a:endParaRPr lang="en-US" sz="2100" b="0" i="0" u="none" strike="noStrike" cap="none">
              <a:solidFill>
                <a:schemeClr val="accent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685800" marR="0" lvl="0" indent="-3238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Trebuchet MS" panose="020B0603020202020204"/>
              <a:buChar char="▪"/>
            </a:pPr>
            <a:r>
              <a:rPr lang="en-US" sz="21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Results and demo</a:t>
            </a:r>
            <a:endParaRPr sz="2100" b="0" i="0" u="none" strike="noStrike" cap="none">
              <a:solidFill>
                <a:schemeClr val="accent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685800" marR="0" lvl="0" indent="-3238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lang="en-US" sz="21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Progress Plan for Phase 3 and Phase 4</a:t>
            </a:r>
            <a:endParaRPr sz="2100" b="0" i="0" u="none" strike="noStrike" cap="none">
              <a:solidFill>
                <a:schemeClr val="accent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685800" marR="0" lvl="0" indent="-3238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lang="en-US" sz="21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References</a:t>
            </a:r>
            <a:endParaRPr sz="1500" b="0" i="0" u="none" strike="noStrike" cap="none">
              <a:solidFill>
                <a:schemeClr val="accen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6858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1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Any other Inform</a:t>
            </a:r>
            <a:r>
              <a:rPr lang="en-US" sz="23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ation</a:t>
            </a:r>
            <a:endParaRPr sz="1700" b="0" i="0" u="none" strike="noStrike" cap="none">
              <a:solidFill>
                <a:schemeClr val="accen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4038601" y="785888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 panose="020B0603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Outline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13"/>
          <p:cNvSpPr txBox="1"/>
          <p:nvPr>
            <p:ph type="ftr" idx="11"/>
          </p:nvPr>
        </p:nvSpPr>
        <p:spPr>
          <a:xfrm>
            <a:off x="3506085" y="5480070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/>
              <a:t>NAME1_NAME2_NAME3_NAME4</a:t>
            </a:r>
            <a:endParaRPr lang="en-US"/>
          </a:p>
        </p:txBody>
      </p:sp>
      <p:sp>
        <p:nvSpPr>
          <p:cNvPr id="110" name="Google Shape;110;p13"/>
          <p:cNvSpPr txBox="1"/>
          <p:nvPr>
            <p:ph type="sldNum" idx="12"/>
          </p:nvPr>
        </p:nvSpPr>
        <p:spPr>
          <a:xfrm>
            <a:off x="9900458" y="654687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11" name="Google Shape;111;p13"/>
          <p:cNvSpPr txBox="1"/>
          <p:nvPr/>
        </p:nvSpPr>
        <p:spPr>
          <a:xfrm>
            <a:off x="76199" y="150200"/>
            <a:ext cx="9824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2" name="Google Shape;112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308650" y="47245"/>
            <a:ext cx="1883360" cy="862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080150" y="1848650"/>
            <a:ext cx="9588000" cy="42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Problem:</a:t>
            </a: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Single-modality phishing detection (e.g., just checking URLs) fails against modern, multi-layered attacks like deepfakes and visually deceptive clones.</a:t>
            </a: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Solution: </a:t>
            </a: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Multi-Modal Phishing Detection System that mathematically fuses Text, URL, Visual (DOM), and Audio/Video analysis.</a:t>
            </a: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Scope:</a:t>
            </a: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Real-time web analysis via a Manifest V3 Browser Extension, backed by a Python/Flask Cloud Fusion Engine and Vertex AI Gemini for human-readable threat explanations.</a:t>
            </a: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3048000" y="1143002"/>
            <a:ext cx="7620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 panose="020B0603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Abstract and Scope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14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122" name="Google Shape;122;p14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23" name="Google Shape;123;p14"/>
          <p:cNvSpPr txBox="1"/>
          <p:nvPr/>
        </p:nvSpPr>
        <p:spPr>
          <a:xfrm>
            <a:off x="76199" y="63100"/>
            <a:ext cx="9824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24" name="Google Shape;124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265226" y="119750"/>
            <a:ext cx="1829537" cy="838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1080150" y="1802825"/>
            <a:ext cx="9588000" cy="42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*(INSERT IMAGE HERE: A professional, high-level infographic or icon set showing 4 inputs (Text, URL, Image, Video) combining into a single shield icon).*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3048000" y="1143002"/>
            <a:ext cx="762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 panose="020B0603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Abstract and Scope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3" name="Google Shape;133;p15"/>
          <p:cNvSpPr txBox="1"/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134" name="Google Shape;134;p15"/>
          <p:cNvSpPr txBox="1"/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35" name="Google Shape;135;p15"/>
          <p:cNvSpPr txBox="1"/>
          <p:nvPr/>
        </p:nvSpPr>
        <p:spPr>
          <a:xfrm>
            <a:off x="76199" y="63100"/>
            <a:ext cx="958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6" name="Google Shape;136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265226" y="119750"/>
            <a:ext cx="1829537" cy="83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196340"/>
            <a:ext cx="10287000" cy="5107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023375" y="1765450"/>
            <a:ext cx="9644700" cy="43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Suggestion 1: </a:t>
            </a: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"Ensure the system can detect deepfake video payloads natively, rather than just relying on text/URL heuristics."</a:t>
            </a: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Feasibility/Progress:</a:t>
            </a: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Implemented structural DOM parsing to intercept &lt;video&gt; and &lt;audio&gt; tags. Transcoded demo videos to H.264 for seamless browser integration.</a:t>
            </a: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 panose="020B0603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Suggestions from Phase 2- review 2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" name="Google Shape;145;p16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146" name="Google Shape;146;p16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47" name="Google Shape;147;p16"/>
          <p:cNvSpPr txBox="1"/>
          <p:nvPr/>
        </p:nvSpPr>
        <p:spPr>
          <a:xfrm>
            <a:off x="76199" y="63100"/>
            <a:ext cx="9824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8" name="Google Shape;148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169475" y="115443"/>
            <a:ext cx="1891900" cy="86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1023375" y="1765450"/>
            <a:ext cx="9644700" cy="43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Suggestion 2: </a:t>
            </a:r>
            <a:r>
              <a:rPr 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"Improve latency; cloud processing takes too long for real-time browsing."</a:t>
            </a: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Feasibility/Progress:</a:t>
            </a:r>
            <a:r>
              <a:rPr 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Shifted from cloud-rendering full screenshots to client-side DOM extraction. Average inference time reduced to &lt;200ms on Render.com</a:t>
            </a: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accent2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4191000" y="114300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 panose="020B0603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Suggestions from Phase 2- review 2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7" name="Google Shape;157;p17"/>
          <p:cNvSpPr txBox="1"/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158" name="Google Shape;158;p17"/>
          <p:cNvSpPr txBox="1"/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59" name="Google Shape;159;p17"/>
          <p:cNvSpPr txBox="1"/>
          <p:nvPr/>
        </p:nvSpPr>
        <p:spPr>
          <a:xfrm>
            <a:off x="76199" y="63100"/>
            <a:ext cx="9824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169475" y="115443"/>
            <a:ext cx="1891900" cy="86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 panose="020B0603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Implementation Details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947250" y="1825750"/>
            <a:ext cx="9720900" cy="43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Frontend: </a:t>
            </a: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React-based UI &amp; Manifest V3 Chrome Extension.</a:t>
            </a: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Backend: </a:t>
            </a: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Flask REST API deployed on Render.com.</a:t>
            </a: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Machine Learning Models:</a:t>
            </a:r>
            <a:endParaRPr sz="2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810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Char char="➢"/>
            </a:pPr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Text: </a:t>
            </a: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DistilBERT (Transformer-based NLP).</a:t>
            </a: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Char char="➢"/>
            </a:pPr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URL:</a:t>
            </a: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Ensemble statistical classifier.</a:t>
            </a: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Char char="➢"/>
            </a:pPr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Visual/Media:</a:t>
            </a: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DOM-structure heuristics &amp; CNNs.</a:t>
            </a: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Char char="➢"/>
            </a:pPr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Fusion Engine: </a:t>
            </a: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Computes Cosine Similarity between modality embeddings. Uses Dynamic Weighting to penalize conflicting anomalies and boost correlated threats, drastically reducing false positives.</a:t>
            </a: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 panose="020B0603020202020204"/>
              <a:buNone/>
            </a:pPr>
            <a:endParaRPr sz="2400">
              <a:solidFill>
                <a:srgbClr val="0033C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" name="Google Shape;168;p18"/>
          <p:cNvSpPr txBox="1"/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169" name="Google Shape;169;p18"/>
          <p:cNvSpPr txBox="1"/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70" name="Google Shape;170;p18"/>
          <p:cNvSpPr txBox="1"/>
          <p:nvPr/>
        </p:nvSpPr>
        <p:spPr>
          <a:xfrm>
            <a:off x="76199" y="63100"/>
            <a:ext cx="972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 panose="020B0603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Implementation Details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947250" y="1825750"/>
            <a:ext cx="9720900" cy="43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 panose="020B0603020202020204"/>
              <a:buNone/>
            </a:pPr>
            <a:endParaRPr sz="2400">
              <a:solidFill>
                <a:srgbClr val="0033C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" name="Google Shape;168;p18"/>
          <p:cNvSpPr txBox="1"/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169" name="Google Shape;169;p18"/>
          <p:cNvSpPr txBox="1"/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70" name="Google Shape;170;p18"/>
          <p:cNvSpPr txBox="1"/>
          <p:nvPr/>
        </p:nvSpPr>
        <p:spPr>
          <a:xfrm>
            <a:off x="76199" y="63100"/>
            <a:ext cx="972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240" y="1628775"/>
            <a:ext cx="8273415" cy="45777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Results and demo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970175" y="1825750"/>
            <a:ext cx="9697800" cy="43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Successfully intercepted deepfake media and credential harvesting clones that bypassed standard URL blacklists.</a:t>
            </a: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Performance:</a:t>
            </a:r>
            <a:r>
              <a:rPr 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System classifies threats in ~150-200ms post-spin-up.</a:t>
            </a: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Explainability:</a:t>
            </a:r>
            <a:r>
              <a:rPr 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Vertex AI successfully translates mathematical SHAP values into readable UI explanations.</a:t>
            </a: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190" name="Google Shape;190;p20"/>
          <p:cNvSpPr txBox="1"/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191" name="Google Shape;191;p20"/>
          <p:cNvSpPr txBox="1"/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92" name="Google Shape;192;p20"/>
          <p:cNvSpPr txBox="1"/>
          <p:nvPr/>
        </p:nvSpPr>
        <p:spPr>
          <a:xfrm>
            <a:off x="76199" y="63100"/>
            <a:ext cx="969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Results and demo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970175" y="1825750"/>
            <a:ext cx="9697800" cy="43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System Output Categorization &amp; Action Protocols</a:t>
            </a:r>
            <a:endParaRPr lang="en-US" altLang="en-US"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🔴</a:t>
            </a:r>
            <a:r>
              <a:rPr lang="en-US" alt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Critical (Score ≥ 0.8): Imminent threat detected. System mandates zero interaction and blocks the page.</a:t>
            </a:r>
            <a:endParaRPr lang="en-US" altLang="en-US"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🟠</a:t>
            </a:r>
            <a:r>
              <a:rPr lang="en-US" alt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High Risk (Score ≥ 0.6): Very suspicious with a high probability of phishing.</a:t>
            </a:r>
            <a:endParaRPr lang="en-US" altLang="en-US"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🟡</a:t>
            </a:r>
            <a:r>
              <a:rPr lang="en-US" alt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Medium Risk (Score ≥ 0.4): Mixed signals detected. Users are warned to proceed with caution and verify the source.</a:t>
            </a:r>
            <a:endParaRPr lang="en-US" altLang="en-US"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🔵</a:t>
            </a:r>
            <a:r>
              <a:rPr lang="en-US" alt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Low Risk (Score ≥ 0.2): Generally safe, though minor awareness is recommended.</a:t>
            </a:r>
            <a:endParaRPr lang="en-US" altLang="en-US"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🟢</a:t>
            </a:r>
            <a:r>
              <a:rPr lang="en-US" alt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Safe (Score &lt; 0.2): No recognized threats detected by the fusion engine.</a:t>
            </a:r>
            <a:endParaRPr lang="en-US" altLang="en-US"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190" name="Google Shape;190;p20"/>
          <p:cNvSpPr txBox="1"/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191" name="Google Shape;191;p20"/>
          <p:cNvSpPr txBox="1"/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92" name="Google Shape;192;p20"/>
          <p:cNvSpPr txBox="1"/>
          <p:nvPr/>
        </p:nvSpPr>
        <p:spPr>
          <a:xfrm>
            <a:off x="76199" y="63100"/>
            <a:ext cx="969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Results and demo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970175" y="1825750"/>
            <a:ext cx="9697800" cy="43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190" name="Google Shape;190;p20"/>
          <p:cNvSpPr txBox="1"/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191" name="Google Shape;191;p20"/>
          <p:cNvSpPr txBox="1"/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92" name="Google Shape;192;p20"/>
          <p:cNvSpPr txBox="1"/>
          <p:nvPr/>
        </p:nvSpPr>
        <p:spPr>
          <a:xfrm>
            <a:off x="76199" y="63100"/>
            <a:ext cx="969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 descr="Screenshot 2026-04-23 105653"/>
          <p:cNvPicPr>
            <a:picLocks noChangeAspect="1"/>
          </p:cNvPicPr>
          <p:nvPr/>
        </p:nvPicPr>
        <p:blipFill>
          <a:blip r:embed="rId2"/>
          <a:srcRect b="29690"/>
          <a:stretch>
            <a:fillRect/>
          </a:stretch>
        </p:blipFill>
        <p:spPr>
          <a:xfrm>
            <a:off x="1415415" y="1844675"/>
            <a:ext cx="3746500" cy="408114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755" y="2070735"/>
            <a:ext cx="4562475" cy="36290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Results and demo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970175" y="1825750"/>
            <a:ext cx="9697800" cy="43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190" name="Google Shape;190;p20"/>
          <p:cNvSpPr txBox="1"/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191" name="Google Shape;191;p20"/>
          <p:cNvSpPr txBox="1"/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92" name="Google Shape;192;p20"/>
          <p:cNvSpPr txBox="1"/>
          <p:nvPr/>
        </p:nvSpPr>
        <p:spPr>
          <a:xfrm>
            <a:off x="76199" y="63100"/>
            <a:ext cx="969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360" y="1700530"/>
            <a:ext cx="7834630" cy="43618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Results and demo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855575" y="1825750"/>
            <a:ext cx="9812400" cy="43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* </a:t>
            </a: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201" name="Google Shape;201;p21"/>
          <p:cNvSpPr txBox="1"/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202" name="Google Shape;202;p21"/>
          <p:cNvSpPr txBox="1"/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03" name="Google Shape;203;p21"/>
          <p:cNvSpPr txBox="1"/>
          <p:nvPr/>
        </p:nvSpPr>
        <p:spPr>
          <a:xfrm>
            <a:off x="76199" y="63100"/>
            <a:ext cx="981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1145540"/>
            <a:ext cx="11812270" cy="5222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Individual contribution</a:t>
            </a:r>
            <a:endParaRPr sz="2400" b="0" i="0" u="none" strike="noStrike" cap="none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158115" y="1825625"/>
            <a:ext cx="11111230" cy="4337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800" b="1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Individual contribution</a:t>
            </a:r>
            <a:endParaRPr sz="2800" b="1" i="0" u="none" strike="noStrike" cap="none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sz="24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>
                <a:solidFill>
                  <a:schemeClr val="dk1"/>
                </a:solidFill>
              </a:rPr>
              <a:t>Mallikarjun Reddy: Cloud Architecture (Render.com) &amp; Flask API Deployment.</a:t>
            </a:r>
            <a:endParaRPr sz="20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>
                <a:solidFill>
                  <a:schemeClr val="dk1"/>
                </a:solidFill>
              </a:rPr>
              <a:t>N Viharika: Fusion Engine Logic (Cosine Similarity &amp; Dynamic Weighting).</a:t>
            </a:r>
            <a:endParaRPr sz="20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>
                <a:solidFill>
                  <a:schemeClr val="dk1"/>
                </a:solidFill>
              </a:rPr>
              <a:t>Navajyoth:  Browser Extension &amp; DOM Extraction Scripts.</a:t>
            </a:r>
            <a:endParaRPr sz="20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>
                <a:solidFill>
                  <a:schemeClr val="dk1"/>
                </a:solidFill>
              </a:rPr>
              <a:t>Pranav G M: Video and Image Models</a:t>
            </a:r>
            <a:endParaRPr lang="en-US" sz="20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12" name="Google Shape;212;p22"/>
          <p:cNvSpPr txBox="1"/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213" name="Google Shape;213;p22"/>
          <p:cNvSpPr txBox="1"/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14" name="Google Shape;214;p22"/>
          <p:cNvSpPr txBox="1"/>
          <p:nvPr/>
        </p:nvSpPr>
        <p:spPr>
          <a:xfrm>
            <a:off x="76199" y="63100"/>
            <a:ext cx="98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/>
          <p:nvPr/>
        </p:nvSpPr>
        <p:spPr>
          <a:xfrm>
            <a:off x="3048000" y="1581151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3374570" y="1143001"/>
            <a:ext cx="7293429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 panose="020B0603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Progress Plan for Phase 3 and Phase 4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718075" y="1848650"/>
            <a:ext cx="9949800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400">
              <a:solidFill>
                <a:schemeClr val="accent2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224" name="Google Shape;224;p23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225" name="Google Shape;225;p23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26" name="Google Shape;226;p23"/>
          <p:cNvSpPr txBox="1"/>
          <p:nvPr/>
        </p:nvSpPr>
        <p:spPr>
          <a:xfrm>
            <a:off x="76199" y="63100"/>
            <a:ext cx="9764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27" name="Google Shape;227;p2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840700" y="152393"/>
            <a:ext cx="21621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15" y="1604645"/>
            <a:ext cx="10351770" cy="4358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3842656" y="1143002"/>
            <a:ext cx="682534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 panose="020B0603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References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718075" y="1823750"/>
            <a:ext cx="9949800" cy="43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[1] A. Aleroud and L. Zhou, "Phishing environments, techniques, and countermeasures: A survey," Computers &amp; Security, vol. 68, pp. 160-196, 2017.</a:t>
            </a: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[2] A. K. Jain and B. B. Gupta, "A machine learning based approach for phishing detection using hyperlinks information," Journal of Ambient Intelligence and Humanized Computing, 2018.</a:t>
            </a: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[3] N. Das, et al., "Deepfake detection: A comprehensive review," IEEE Access, vol. 9, pp. 152173-152190, 2021.</a:t>
            </a:r>
            <a:endParaRPr sz="2400" b="0" i="0" u="none" strike="noStrike" cap="none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342900" marR="0" lvl="0" indent="127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endParaRPr sz="2400" b="0" i="0" u="none" strike="noStrike" cap="none">
              <a:solidFill>
                <a:srgbClr val="0000F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1078230" marR="0" lvl="1" indent="-26543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endParaRPr sz="2400" b="0" i="0" u="none" strike="noStrike" cap="none">
              <a:solidFill>
                <a:srgbClr val="0000F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</a:pPr>
            <a:endParaRPr sz="2000" b="0" i="0" u="none" strike="noStrike" cap="none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236" name="Google Shape;236;p24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237" name="Google Shape;237;p24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38" name="Google Shape;238;p24"/>
          <p:cNvSpPr txBox="1"/>
          <p:nvPr/>
        </p:nvSpPr>
        <p:spPr>
          <a:xfrm>
            <a:off x="76199" y="63100"/>
            <a:ext cx="994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39" name="Google Shape;239;p2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199901" y="85725"/>
            <a:ext cx="1829537" cy="838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3842656" y="1143002"/>
            <a:ext cx="682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 panose="020B0603020202020204"/>
              <a:buNone/>
            </a:pPr>
            <a:r>
              <a:rPr 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Additional Information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718075" y="1823750"/>
            <a:ext cx="9949800" cy="43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Live Demo: We have made a prototype and are prepared to demonstrate the real-time interception of a deepfake corporate announcement using our server and cloud API.</a:t>
            </a:r>
            <a:endParaRPr sz="24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</a:pPr>
            <a:endParaRPr sz="20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</a:pPr>
            <a:r>
              <a:rPr lang="en-US" altLang="en-US" sz="20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https://github.com/rjunereddy/capstone</a:t>
            </a:r>
            <a:endParaRPr lang="en-US" altLang="en-US" sz="20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248" name="Google Shape;248;p25"/>
          <p:cNvSpPr txBox="1"/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249" name="Google Shape;249;p25"/>
          <p:cNvSpPr txBox="1"/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50" name="Google Shape;250;p25"/>
          <p:cNvSpPr txBox="1"/>
          <p:nvPr/>
        </p:nvSpPr>
        <p:spPr>
          <a:xfrm>
            <a:off x="76199" y="63100"/>
            <a:ext cx="994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 panose="020B0603020202020204"/>
              <a:buNone/>
            </a:pPr>
            <a:r>
              <a:rPr lang="en-US" sz="1200">
                <a:solidFill>
                  <a:schemeClr val="dk1"/>
                </a:solidFill>
              </a:rPr>
              <a:t>PhishGuard AI - Local Browser Extension for Real-Time Phishing &amp; Deepfake Detection Using a Multi-Modal, Correlation-Aware Pipeline</a:t>
            </a:r>
            <a:r>
              <a:rPr lang="en-US" sz="120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51" name="Google Shape;251;p2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199901" y="85725"/>
            <a:ext cx="1829537" cy="83820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0" y="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Mallikarjun_Navajyoth_Pranav_Viharika</a:t>
            </a:r>
            <a:endParaRPr lang="en-US" sz="9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/>
          <p:nvPr/>
        </p:nvSpPr>
        <p:spPr>
          <a:xfrm>
            <a:off x="3156155" y="3352800"/>
            <a:ext cx="372191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rebuchet MS" panose="020B0603020202020204"/>
              <a:buNone/>
            </a:pPr>
            <a:r>
              <a:rPr lang="en-US" sz="4000" b="0" i="0" u="none" strike="noStrike" cap="none">
                <a:solidFill>
                  <a:schemeClr val="accent2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Thank You</a:t>
            </a:r>
            <a:endParaRPr sz="1800" b="0" i="0" u="none" strike="noStrike" cap="none">
              <a:solidFill>
                <a:schemeClr val="accent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8" name="Google Shape;258;p26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 panose="020F0502020204030204"/>
              <a:buNone/>
            </a:pPr>
            <a:r>
              <a:rPr lang="en-US">
                <a:solidFill>
                  <a:schemeClr val="lt1"/>
                </a:solidFill>
              </a:rPr>
              <a:t>Mallikarjun_Navajyoth_Pranav_Viharika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259" name="Google Shape;259;p26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7003</Words>
  <Application>WPS Presentation</Application>
  <PresentationFormat/>
  <Paragraphs>236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Trebuchet MS</vt:lpstr>
      <vt:lpstr>Noto Sans Symbols</vt:lpstr>
      <vt:lpstr>Segoe Print</vt:lpstr>
      <vt:lpstr>Microsoft YaHei</vt:lpstr>
      <vt:lpstr>Arial Unicode MS</vt:lpstr>
      <vt:lpstr>Retrospect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Mallikarjun Reddy</cp:lastModifiedBy>
  <cp:revision>3</cp:revision>
  <dcterms:created xsi:type="dcterms:W3CDTF">2026-04-23T04:33:59Z</dcterms:created>
  <dcterms:modified xsi:type="dcterms:W3CDTF">2026-04-23T17:32:26Z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AC607B17906646AF86FDE8CBEF94F2D2_13</vt:lpwstr>
  </property>
</Properties>
</file>